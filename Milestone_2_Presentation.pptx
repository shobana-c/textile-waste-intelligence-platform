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92024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47857"/>
                </a:solidFill>
                <a:latin typeface="Arial"/>
              </a:defRPr>
            </a:pPr>
            <a:r>
              <a:t>TexCycle Platform</a:t>
            </a:r>
          </a:p>
          <a:p>
            <a:pPr algn="ctr">
              <a:spcBef>
                <a:spcPts val="800"/>
              </a:spcBef>
              <a:defRPr sz="1800">
                <a:solidFill>
                  <a:srgbClr val="1F2937"/>
                </a:solidFill>
                <a:latin typeface="Arial"/>
              </a:defRPr>
            </a:pPr>
            <a:r>
              <a:t>AI-Driven Textile Waste Intelligence &amp; Circular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2410C"/>
                </a:solidFill>
                <a:latin typeface="Arial"/>
              </a:defRPr>
            </a:pPr>
            <a:r>
              <a:t>Milestone 2 Outcomes: Material Recognition &amp; Waste Classification</a:t>
            </a:r>
          </a:p>
          <a:p>
            <a:pPr algn="ctr">
              <a:spcBef>
                <a:spcPts val="500"/>
              </a:spcBef>
              <a:defRPr sz="1000">
                <a:solidFill>
                  <a:srgbClr val="646E69"/>
                </a:solidFill>
                <a:latin typeface="Arial"/>
              </a:defRPr>
            </a:pPr>
            <a:r>
              <a:t>Featuring CV Fiber Scanning, Recyclability Predictions &amp; ESG Environmental Carbon-Water Savings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2410C"/>
                </a:solidFill>
                <a:latin typeface="Arial"/>
              </a:defRPr>
            </a:pPr>
            <a:r>
              <a:t>MILESTONE 2: MATERIAL RECOGNITION &amp; WASTE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rial"/>
              </a:defRPr>
            </a:pPr>
            <a:r>
              <a:t>Objectives &amp; Achieved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27432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47857"/>
                </a:solidFill>
                <a:latin typeface="Arial"/>
              </a:defRPr>
            </a:pPr>
            <a:r>
              <a:t>Target Objectives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Develop an automated Textile Image Analysis Engine to inspect waste.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Implement material recognition algorithms to support multi-fiber classification.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Design a robust Quality Estimation model checking physical damages.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Implement a complete waste categorization and circularity prediction workflow.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Enable immediate reporting streams (PDF certificates and Excel logs).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2410C"/>
                </a:solidFill>
                <a:latin typeface="Arial"/>
              </a:defRPr>
            </a:pPr>
            <a:r>
              <a:t>Achieved Outcomes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✔ AI Image Scan Engine fully functional using OpenCV Sobel edge checks and Pillow RGB Histograms.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✔ Automatic detection of 5 base fabrics (Cotton, Polyester, Wool, Denim, and Blends) with purity details.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✔ Circularity Index Score dynamically calculated using a weighted 5-criteria model.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✔ Excel and PDF Export Services completed (ReportLab &amp; OpenPyXL integrations).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✔ Evaluator tools added: 1-Click image presets and client-side simulator.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2410C"/>
                </a:solidFill>
                <a:latin typeface="Arial"/>
              </a:defRPr>
            </a:pPr>
            <a:r>
              <a:t>MILESTONE 2: MATERIAL RECOGNITION &amp; WASTE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rial"/>
              </a:defRPr>
            </a:pPr>
            <a:r>
              <a:t>Technology Stack &amp; System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27432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47857"/>
                </a:solidFill>
                <a:latin typeface="Arial"/>
              </a:defRPr>
            </a:pPr>
            <a:r>
              <a:t>Platform Technologies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Backend Architecture: FastAPI (Python 3.14 compatible), SQLAlchemy, SQLite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Image Classification: OpenCV (filters, texture analysis) &amp; Pillow (image manipulation &amp; RGB histogram metrics)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Frontend Layout: React, Vite, Tailwind CSS, Lucide Icons, Custom SVG Gauges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Reporting Systems: OpenPyXL (Excel worksheets) &amp; ReportLab (Clean PDF templates)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System Launcher: launch_platform.bat &amp; start_platform_silent.bat (Detached processes via PowerShell)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2410C"/>
                </a:solidFill>
                <a:latin typeface="Arial"/>
              </a:defRPr>
            </a:pPr>
            <a:r>
              <a:t>Pipeline Data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377440"/>
            <a:ext cx="5120640" cy="502920"/>
          </a:xfrm>
          <a:prstGeom prst="roundRect">
            <a:avLst/>
          </a:prstGeom>
          <a:solidFill>
            <a:srgbClr val="F5F7F6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42316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React UI (Client)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108960"/>
            <a:ext cx="5120640" cy="502920"/>
          </a:xfrm>
          <a:prstGeom prst="roundRect">
            <a:avLst/>
          </a:prstGeom>
          <a:solidFill>
            <a:srgbClr val="F5F7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15468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Arial"/>
              </a:defRPr>
            </a:pPr>
            <a:r>
              <a:t>FastAPI Gateway &amp; Upload 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840480"/>
            <a:ext cx="5120640" cy="502920"/>
          </a:xfrm>
          <a:prstGeom prst="roundRect">
            <a:avLst/>
          </a:prstGeom>
          <a:solidFill>
            <a:srgbClr val="F5F7F6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88620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2410C"/>
                </a:solidFill>
                <a:latin typeface="Arial"/>
              </a:defRPr>
            </a:pPr>
            <a:r>
              <a:t>CV Image Engine (Pillow &amp; OpenCV)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572000"/>
            <a:ext cx="5120640" cy="502920"/>
          </a:xfrm>
          <a:prstGeom prst="roundRect">
            <a:avLst/>
          </a:prstGeom>
          <a:solidFill>
            <a:srgbClr val="F5F7F6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61772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Scoring Engine &amp; Local SQLite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5303520"/>
            <a:ext cx="5120640" cy="502920"/>
          </a:xfrm>
          <a:prstGeom prst="roundRect">
            <a:avLst/>
          </a:prstGeom>
          <a:solidFill>
            <a:srgbClr val="F5F7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534924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Arial"/>
              </a:defRPr>
            </a:pPr>
            <a:r>
              <a:t>Report Export &amp; File System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2410C"/>
                </a:solidFill>
                <a:latin typeface="Arial"/>
              </a:defRPr>
            </a:pPr>
            <a:r>
              <a:t>MILESTONE 2: MATERIAL RECOGNITION &amp; WASTE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rial"/>
              </a:defRPr>
            </a:pPr>
            <a:r>
              <a:t>Circularity Scoring &amp; Environmental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27432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47857"/>
                </a:solidFill>
                <a:latin typeface="Arial"/>
              </a:defRPr>
            </a:pPr>
            <a:r>
              <a:t>Circularity Scoring Model Weightings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377440"/>
          <a:ext cx="4754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8016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Criteria Component</a:t>
                      </a:r>
                    </a:p>
                  </a:txBody>
                  <a:tcPr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5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Material Recyclability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Material Physical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Reuse Potential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Environmental Benefit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Processing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2410C"/>
                </a:solidFill>
                <a:latin typeface="Arial"/>
              </a:defRPr>
            </a:pPr>
            <a:r>
              <a:t>Sustainability Offsets (per kg)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Cotton Fiber:</a:t>
            </a:r>
            <a:br/>
            <a:r>
              <a:t>  • Saved: 8.5 kg CO₂ | Preserved: 4,500 L Water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Wool Material:</a:t>
            </a:r>
            <a:br/>
            <a:r>
              <a:t>  • Saved: 9.0 kg CO₂ | Preserved: 2,000 L Water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Denim Fabrics:</a:t>
            </a:r>
            <a:br/>
            <a:r>
              <a:t>  • Saved: 5.7 kg CO₂ | Preserved: 2,375 L Water</a:t>
            </a:r>
          </a:p>
          <a:p>
            <a:pPr>
              <a:spcBef>
                <a:spcPts val="12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Polyester Synthetics:</a:t>
            </a:r>
            <a:br/>
            <a:r>
              <a:t>  • Saved: 3.8 kg CO₂ | Preserved: 600 L Water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2410C"/>
                </a:solidFill>
                <a:latin typeface="Arial"/>
              </a:defRPr>
            </a:pPr>
            <a:r>
              <a:t>MILESTONE 2: MATERIAL RECOGNITION &amp; WASTE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rial"/>
              </a:defRPr>
            </a:pPr>
            <a:r>
              <a:t>Evaluator Features &amp; Project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27432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47857"/>
                </a:solidFill>
                <a:latin typeface="Arial"/>
              </a:defRPr>
            </a:pPr>
            <a:r>
              <a:t>Built-in Evaluator Tools</a:t>
            </a:r>
          </a:p>
          <a:p>
            <a:pPr>
              <a:spcBef>
                <a:spcPts val="16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1-Click AI Presets: Clickable template batches (Denim Jeans, Stained Tee, Wool Sweater) with a 1.5s visual scanning simulation. Reviewers can test the scanner instantly without sourcing real images.</a:t>
            </a:r>
          </a:p>
          <a:p>
            <a:pPr>
              <a:spcBef>
                <a:spcPts val="16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• Interactive ESG Simulator: Real-time client-side sliders (Purity, Type, Condition) showing how the circularity formula and recommended stream updates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2410C"/>
                </a:solidFill>
                <a:latin typeface="Arial"/>
              </a:defRPr>
            </a:pPr>
            <a:r>
              <a:t>Milestone 3 Roadmap (Weeks 5 &amp; 6)</a:t>
            </a:r>
          </a:p>
          <a:p>
            <a:pPr>
              <a:spcBef>
                <a:spcPts val="14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→ Sustainability Engine Expansion: Complete B2B matching dashboards connecting waste recyclers directly with manufacturers.</a:t>
            </a:r>
          </a:p>
          <a:p>
            <a:pPr>
              <a:spcBef>
                <a:spcPts val="14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→ Audit Logging &amp; Banners: Create automated warnings for container overflow alerts.</a:t>
            </a:r>
          </a:p>
          <a:p>
            <a:pPr>
              <a:spcBef>
                <a:spcPts val="14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→ API Integration refinement: Hook up live notification services and email alerts.</a:t>
            </a:r>
          </a:p>
          <a:p>
            <a:pPr>
              <a:spcBef>
                <a:spcPts val="14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→ Production Containerization: Package both backend and frontend via Docker Compose configurations.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